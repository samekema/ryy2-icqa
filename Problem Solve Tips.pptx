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57" r:id="rId3"/>
    <p:sldId id="264" r:id="rId4"/>
    <p:sldId id="263" r:id="rId5"/>
    <p:sldId id="258" r:id="rId6"/>
    <p:sldId id="259" r:id="rId7"/>
    <p:sldId id="260" r:id="rId8"/>
    <p:sldId id="267" r:id="rId9"/>
    <p:sldId id="266" r:id="rId10"/>
    <p:sldId id="265" r:id="rId11"/>
    <p:sldId id="262"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7" d="100"/>
          <a:sy n="77" d="100"/>
        </p:scale>
        <p:origin x="268"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lumMod val="7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3B81C18-90B6-4E57-A9FF-A4371D45D406}"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8D1E0A-7AC4-4B6A-8568-1CF43C24ABCC}" type="slidenum">
              <a:rPr lang="en-US" smtClean="0"/>
              <a:t>‹#›</a:t>
            </a:fld>
            <a:endParaRPr lang="en-US"/>
          </a:p>
        </p:txBody>
      </p:sp>
    </p:spTree>
    <p:extLst>
      <p:ext uri="{BB962C8B-B14F-4D97-AF65-F5344CB8AC3E}">
        <p14:creationId xmlns:p14="http://schemas.microsoft.com/office/powerpoint/2010/main" val="19873690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3B81C18-90B6-4E57-A9FF-A4371D45D406}"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8D1E0A-7AC4-4B6A-8568-1CF43C24ABCC}" type="slidenum">
              <a:rPr lang="en-US" smtClean="0"/>
              <a:t>‹#›</a:t>
            </a:fld>
            <a:endParaRPr lang="en-US"/>
          </a:p>
        </p:txBody>
      </p:sp>
    </p:spTree>
    <p:extLst>
      <p:ext uri="{BB962C8B-B14F-4D97-AF65-F5344CB8AC3E}">
        <p14:creationId xmlns:p14="http://schemas.microsoft.com/office/powerpoint/2010/main" val="33325980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3B81C18-90B6-4E57-A9FF-A4371D45D406}"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8D1E0A-7AC4-4B6A-8568-1CF43C24ABCC}" type="slidenum">
              <a:rPr lang="en-US" smtClean="0"/>
              <a:t>‹#›</a:t>
            </a:fld>
            <a:endParaRPr lang="en-US"/>
          </a:p>
        </p:txBody>
      </p:sp>
    </p:spTree>
    <p:extLst>
      <p:ext uri="{BB962C8B-B14F-4D97-AF65-F5344CB8AC3E}">
        <p14:creationId xmlns:p14="http://schemas.microsoft.com/office/powerpoint/2010/main" val="6011627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3B81C18-90B6-4E57-A9FF-A4371D45D406}"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8D1E0A-7AC4-4B6A-8568-1CF43C24ABCC}" type="slidenum">
              <a:rPr lang="en-US" smtClean="0"/>
              <a:t>‹#›</a:t>
            </a:fld>
            <a:endParaRPr lang="en-US"/>
          </a:p>
        </p:txBody>
      </p:sp>
    </p:spTree>
    <p:extLst>
      <p:ext uri="{BB962C8B-B14F-4D97-AF65-F5344CB8AC3E}">
        <p14:creationId xmlns:p14="http://schemas.microsoft.com/office/powerpoint/2010/main" val="16210895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3B81C18-90B6-4E57-A9FF-A4371D45D406}" type="datetimeFigureOut">
              <a:rPr lang="en-US" smtClean="0"/>
              <a:t>10/21/2026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48D1E0A-7AC4-4B6A-8568-1CF43C24ABCC}" type="slidenum">
              <a:rPr lang="en-US" smtClean="0"/>
              <a:t>‹#›</a:t>
            </a:fld>
            <a:endParaRPr lang="en-US"/>
          </a:p>
        </p:txBody>
      </p:sp>
    </p:spTree>
    <p:extLst>
      <p:ext uri="{BB962C8B-B14F-4D97-AF65-F5344CB8AC3E}">
        <p14:creationId xmlns:p14="http://schemas.microsoft.com/office/powerpoint/2010/main" val="23737699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3B81C18-90B6-4E57-A9FF-A4371D45D406}" type="datetimeFigureOut">
              <a:rPr lang="en-US" smtClean="0"/>
              <a:t>10/21/2026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48D1E0A-7AC4-4B6A-8568-1CF43C24ABCC}" type="slidenum">
              <a:rPr lang="en-US" smtClean="0"/>
              <a:t>‹#›</a:t>
            </a:fld>
            <a:endParaRPr lang="en-US"/>
          </a:p>
        </p:txBody>
      </p:sp>
    </p:spTree>
    <p:extLst>
      <p:ext uri="{BB962C8B-B14F-4D97-AF65-F5344CB8AC3E}">
        <p14:creationId xmlns:p14="http://schemas.microsoft.com/office/powerpoint/2010/main" val="8464570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3B81C18-90B6-4E57-A9FF-A4371D45D406}" type="datetimeFigureOut">
              <a:rPr lang="en-US" smtClean="0"/>
              <a:t>10/21/2026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48D1E0A-7AC4-4B6A-8568-1CF43C24ABCC}" type="slidenum">
              <a:rPr lang="en-US" smtClean="0"/>
              <a:t>‹#›</a:t>
            </a:fld>
            <a:endParaRPr lang="en-US"/>
          </a:p>
        </p:txBody>
      </p:sp>
    </p:spTree>
    <p:extLst>
      <p:ext uri="{BB962C8B-B14F-4D97-AF65-F5344CB8AC3E}">
        <p14:creationId xmlns:p14="http://schemas.microsoft.com/office/powerpoint/2010/main" val="8373174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3B81C18-90B6-4E57-A9FF-A4371D45D406}"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8D1E0A-7AC4-4B6A-8568-1CF43C24ABCC}" type="slidenum">
              <a:rPr lang="en-US" smtClean="0"/>
              <a:t>‹#›</a:t>
            </a:fld>
            <a:endParaRPr lang="en-US"/>
          </a:p>
        </p:txBody>
      </p:sp>
    </p:spTree>
    <p:extLst>
      <p:ext uri="{BB962C8B-B14F-4D97-AF65-F5344CB8AC3E}">
        <p14:creationId xmlns:p14="http://schemas.microsoft.com/office/powerpoint/2010/main" val="25794051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3B81C18-90B6-4E57-A9FF-A4371D45D406}"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8D1E0A-7AC4-4B6A-8568-1CF43C24ABCC}" type="slidenum">
              <a:rPr lang="en-US" smtClean="0"/>
              <a:t>‹#›</a:t>
            </a:fld>
            <a:endParaRPr lang="en-US"/>
          </a:p>
        </p:txBody>
      </p:sp>
    </p:spTree>
    <p:extLst>
      <p:ext uri="{BB962C8B-B14F-4D97-AF65-F5344CB8AC3E}">
        <p14:creationId xmlns:p14="http://schemas.microsoft.com/office/powerpoint/2010/main" val="229442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3B81C18-90B6-4E57-A9FF-A4371D45D406}"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8D1E0A-7AC4-4B6A-8568-1CF43C24ABCC}" type="slidenum">
              <a:rPr lang="en-US" smtClean="0"/>
              <a:t>‹#›</a:t>
            </a:fld>
            <a:endParaRPr lang="en-US"/>
          </a:p>
        </p:txBody>
      </p:sp>
    </p:spTree>
    <p:extLst>
      <p:ext uri="{BB962C8B-B14F-4D97-AF65-F5344CB8AC3E}">
        <p14:creationId xmlns:p14="http://schemas.microsoft.com/office/powerpoint/2010/main" val="617922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3B81C18-90B6-4E57-A9FF-A4371D45D406}"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8D1E0A-7AC4-4B6A-8568-1CF43C24ABCC}"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8094385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3B81C18-90B6-4E57-A9FF-A4371D45D406}"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8D1E0A-7AC4-4B6A-8568-1CF43C24ABCC}" type="slidenum">
              <a:rPr lang="en-US" smtClean="0"/>
              <a:t>‹#›</a:t>
            </a:fld>
            <a:endParaRPr lang="en-US"/>
          </a:p>
        </p:txBody>
      </p:sp>
    </p:spTree>
    <p:extLst>
      <p:ext uri="{BB962C8B-B14F-4D97-AF65-F5344CB8AC3E}">
        <p14:creationId xmlns:p14="http://schemas.microsoft.com/office/powerpoint/2010/main" val="20581268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3B81C18-90B6-4E57-A9FF-A4371D45D406}"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8D1E0A-7AC4-4B6A-8568-1CF43C24ABCC}"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026697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3B81C18-90B6-4E57-A9FF-A4371D45D406}"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8D1E0A-7AC4-4B6A-8568-1CF43C24ABCC}" type="slidenum">
              <a:rPr lang="en-US" smtClean="0"/>
              <a:t>‹#›</a:t>
            </a:fld>
            <a:endParaRPr lang="en-US"/>
          </a:p>
        </p:txBody>
      </p:sp>
    </p:spTree>
    <p:extLst>
      <p:ext uri="{BB962C8B-B14F-4D97-AF65-F5344CB8AC3E}">
        <p14:creationId xmlns:p14="http://schemas.microsoft.com/office/powerpoint/2010/main" val="8359812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3B81C18-90B6-4E57-A9FF-A4371D45D406}"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8D1E0A-7AC4-4B6A-8568-1CF43C24ABCC}" type="slidenum">
              <a:rPr lang="en-US" smtClean="0"/>
              <a:t>‹#›</a:t>
            </a:fld>
            <a:endParaRPr lang="en-US"/>
          </a:p>
        </p:txBody>
      </p:sp>
    </p:spTree>
    <p:extLst>
      <p:ext uri="{BB962C8B-B14F-4D97-AF65-F5344CB8AC3E}">
        <p14:creationId xmlns:p14="http://schemas.microsoft.com/office/powerpoint/2010/main" val="25338392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3B81C18-90B6-4E57-A9FF-A4371D45D406}"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8D1E0A-7AC4-4B6A-8568-1CF43C24ABCC}" type="slidenum">
              <a:rPr lang="en-US" smtClean="0"/>
              <a:t>‹#›</a:t>
            </a:fld>
            <a:endParaRPr lang="en-US"/>
          </a:p>
        </p:txBody>
      </p:sp>
    </p:spTree>
    <p:extLst>
      <p:ext uri="{BB962C8B-B14F-4D97-AF65-F5344CB8AC3E}">
        <p14:creationId xmlns:p14="http://schemas.microsoft.com/office/powerpoint/2010/main" val="38319822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9" name="Group 28"/>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0" y="4013200"/>
              <a:ext cx="448733" cy="2844800"/>
            </a:xfrm>
            <a:prstGeom prst="triangle">
              <a:avLst>
                <a:gd name="adj" fmla="val 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3B81C18-90B6-4E57-A9FF-A4371D45D406}" type="datetimeFigureOut">
              <a:rPr lang="en-US" smtClean="0"/>
              <a:t>10/21/2026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lumMod val="75000"/>
                  </a:schemeClr>
                </a:solidFill>
              </a:defRPr>
            </a:lvl1pPr>
          </a:lstStyle>
          <a:p>
            <a:fld id="{648D1E0A-7AC4-4B6A-8568-1CF43C24ABCC}" type="slidenum">
              <a:rPr lang="en-US" smtClean="0"/>
              <a:t>‹#›</a:t>
            </a:fld>
            <a:endParaRPr lang="en-US"/>
          </a:p>
        </p:txBody>
      </p:sp>
    </p:spTree>
    <p:extLst>
      <p:ext uri="{BB962C8B-B14F-4D97-AF65-F5344CB8AC3E}">
        <p14:creationId xmlns:p14="http://schemas.microsoft.com/office/powerpoint/2010/main" val="146332418"/>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na.iar.rbs.amazon.dev/home"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hyperlink" Target="https://lossprevention.amazon.com/codefs/new" TargetMode="Externa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river-iad.amazon.com/RYY2/workflows?buildingType=fc&amp;q0=3654ec14-7232-4f65-84c3-87927cdb4d0c&amp;q1=f2738dec-7f6f-4c2e-a85a-db7228de25f1&amp;id=f2738dec-7f6f-4c2e-a85a-db7228de25f1"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2.xml"/><Relationship Id="rId4" Type="http://schemas.openxmlformats.org/officeDocument/2006/relationships/image" Target="../media/image9.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FB56B-0EB7-964C-EAF3-3BC8EAAF8EFD}"/>
              </a:ext>
            </a:extLst>
          </p:cNvPr>
          <p:cNvSpPr>
            <a:spLocks noGrp="1"/>
          </p:cNvSpPr>
          <p:nvPr>
            <p:ph type="ctrTitle"/>
          </p:nvPr>
        </p:nvSpPr>
        <p:spPr>
          <a:xfrm>
            <a:off x="1415627" y="559108"/>
            <a:ext cx="7766936" cy="1646302"/>
          </a:xfrm>
        </p:spPr>
        <p:txBody>
          <a:bodyPr/>
          <a:lstStyle/>
          <a:p>
            <a:r>
              <a:rPr lang="en-US" b="1" dirty="0">
                <a:latin typeface="Amazon Ember Heavy" panose="020B0803020204020204" pitchFamily="34" charset="0"/>
                <a:ea typeface="Amazon Ember Heavy" panose="020B0803020204020204" pitchFamily="34" charset="0"/>
                <a:cs typeface="Amazon Ember Heavy" panose="020B0803020204020204" pitchFamily="34" charset="0"/>
              </a:rPr>
              <a:t>Problem Solve Tips	</a:t>
            </a:r>
          </a:p>
        </p:txBody>
      </p:sp>
      <p:sp>
        <p:nvSpPr>
          <p:cNvPr id="3" name="Subtitle 2">
            <a:extLst>
              <a:ext uri="{FF2B5EF4-FFF2-40B4-BE49-F238E27FC236}">
                <a16:creationId xmlns:a16="http://schemas.microsoft.com/office/drawing/2014/main" id="{337CE373-63A3-5D2D-2B56-0AEE1AF4BDF2}"/>
              </a:ext>
            </a:extLst>
          </p:cNvPr>
          <p:cNvSpPr>
            <a:spLocks noGrp="1"/>
          </p:cNvSpPr>
          <p:nvPr>
            <p:ph type="subTitle" idx="1"/>
          </p:nvPr>
        </p:nvSpPr>
        <p:spPr>
          <a:xfrm>
            <a:off x="1640072" y="2537917"/>
            <a:ext cx="7766936" cy="1096899"/>
          </a:xfrm>
        </p:spPr>
        <p:txBody>
          <a:bodyPr/>
          <a:lstStyle/>
          <a:p>
            <a:r>
              <a:rPr lang="en-US" dirty="0"/>
              <a:t>These are some helpful tips for problem solving. </a:t>
            </a:r>
          </a:p>
          <a:p>
            <a:endParaRPr lang="en-US" dirty="0"/>
          </a:p>
        </p:txBody>
      </p:sp>
      <p:pic>
        <p:nvPicPr>
          <p:cNvPr id="5" name="Picture 4">
            <a:extLst>
              <a:ext uri="{FF2B5EF4-FFF2-40B4-BE49-F238E27FC236}">
                <a16:creationId xmlns:a16="http://schemas.microsoft.com/office/drawing/2014/main" id="{7E3F6358-25C6-4671-3CE0-2B83398A6096}"/>
              </a:ext>
            </a:extLst>
          </p:cNvPr>
          <p:cNvPicPr>
            <a:picLocks noChangeAspect="1"/>
          </p:cNvPicPr>
          <p:nvPr/>
        </p:nvPicPr>
        <p:blipFill>
          <a:blip r:embed="rId2"/>
          <a:stretch>
            <a:fillRect/>
          </a:stretch>
        </p:blipFill>
        <p:spPr>
          <a:xfrm>
            <a:off x="469400" y="3634816"/>
            <a:ext cx="8658862" cy="2819200"/>
          </a:xfrm>
          <a:prstGeom prst="rect">
            <a:avLst/>
          </a:prstGeom>
        </p:spPr>
      </p:pic>
    </p:spTree>
    <p:extLst>
      <p:ext uri="{BB962C8B-B14F-4D97-AF65-F5344CB8AC3E}">
        <p14:creationId xmlns:p14="http://schemas.microsoft.com/office/powerpoint/2010/main" val="41868656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2D66F-E196-DBB1-1250-FF7E49C9D425}"/>
              </a:ext>
            </a:extLst>
          </p:cNvPr>
          <p:cNvSpPr>
            <a:spLocks noGrp="1"/>
          </p:cNvSpPr>
          <p:nvPr>
            <p:ph type="title"/>
          </p:nvPr>
        </p:nvSpPr>
        <p:spPr>
          <a:xfrm>
            <a:off x="527705" y="193964"/>
            <a:ext cx="8596668" cy="1320800"/>
          </a:xfrm>
        </p:spPr>
        <p:txBody>
          <a:bodyPr/>
          <a:lstStyle/>
          <a:p>
            <a:r>
              <a:rPr lang="en-US" b="1" dirty="0"/>
              <a:t>Sideline App </a:t>
            </a:r>
          </a:p>
        </p:txBody>
      </p:sp>
      <p:sp>
        <p:nvSpPr>
          <p:cNvPr id="3" name="Content Placeholder 2">
            <a:extLst>
              <a:ext uri="{FF2B5EF4-FFF2-40B4-BE49-F238E27FC236}">
                <a16:creationId xmlns:a16="http://schemas.microsoft.com/office/drawing/2014/main" id="{876C6297-2497-70F3-45B6-2F21FF1ACF1B}"/>
              </a:ext>
            </a:extLst>
          </p:cNvPr>
          <p:cNvSpPr>
            <a:spLocks noGrp="1"/>
          </p:cNvSpPr>
          <p:nvPr>
            <p:ph idx="1"/>
          </p:nvPr>
        </p:nvSpPr>
        <p:spPr>
          <a:xfrm>
            <a:off x="336512" y="907532"/>
            <a:ext cx="8596668" cy="3880773"/>
          </a:xfrm>
        </p:spPr>
        <p:txBody>
          <a:bodyPr>
            <a:normAutofit fontScale="92500" lnSpcReduction="20000"/>
          </a:bodyPr>
          <a:lstStyle/>
          <a:p>
            <a:r>
              <a:rPr lang="en-US" dirty="0"/>
              <a:t>The Following defects</a:t>
            </a:r>
          </a:p>
          <a:p>
            <a:r>
              <a:rPr lang="en-US" dirty="0"/>
              <a:t>Unexpected Item Overage (UIO):The item in the container physically does not match what the container virtually</a:t>
            </a:r>
          </a:p>
          <a:p>
            <a:r>
              <a:rPr lang="en-US" dirty="0"/>
              <a:t>ASIN-Stickering: Barcode is missing, damaged, or unscannable.  </a:t>
            </a:r>
          </a:p>
          <a:p>
            <a:r>
              <a:rPr lang="en-US" dirty="0"/>
              <a:t>UPC Linking: When a user scans an unlinked UPC, sideline-app will attempt to link the UPC the item in the container. </a:t>
            </a:r>
          </a:p>
          <a:p>
            <a:r>
              <a:rPr lang="en-US" dirty="0"/>
              <a:t>Unexpected Container Overage (UCO): Container requires virtual transfer from another FC</a:t>
            </a:r>
          </a:p>
          <a:p>
            <a:r>
              <a:rPr lang="en-US" dirty="0"/>
              <a:t>Move Items: Virtually transfer inventory from the source  container to the destination container </a:t>
            </a:r>
          </a:p>
          <a:p>
            <a:r>
              <a:rPr lang="en-US" dirty="0"/>
              <a:t>Damage an item: Marks as WHS_DAMAGED </a:t>
            </a:r>
          </a:p>
          <a:p>
            <a:r>
              <a:rPr lang="en-US" dirty="0"/>
              <a:t>Shortage: Used to remove virtual inventory from containers that are physically empty. </a:t>
            </a:r>
          </a:p>
        </p:txBody>
      </p:sp>
      <p:pic>
        <p:nvPicPr>
          <p:cNvPr id="5" name="Picture 4">
            <a:extLst>
              <a:ext uri="{FF2B5EF4-FFF2-40B4-BE49-F238E27FC236}">
                <a16:creationId xmlns:a16="http://schemas.microsoft.com/office/drawing/2014/main" id="{1291C548-81F1-6E53-24AD-8DE2466BE007}"/>
              </a:ext>
            </a:extLst>
          </p:cNvPr>
          <p:cNvPicPr>
            <a:picLocks noChangeAspect="1"/>
          </p:cNvPicPr>
          <p:nvPr/>
        </p:nvPicPr>
        <p:blipFill>
          <a:blip r:embed="rId2"/>
          <a:stretch>
            <a:fillRect/>
          </a:stretch>
        </p:blipFill>
        <p:spPr>
          <a:xfrm>
            <a:off x="2306043" y="4526793"/>
            <a:ext cx="7119308" cy="2065200"/>
          </a:xfrm>
          <a:prstGeom prst="rect">
            <a:avLst/>
          </a:prstGeom>
        </p:spPr>
      </p:pic>
    </p:spTree>
    <p:extLst>
      <p:ext uri="{BB962C8B-B14F-4D97-AF65-F5344CB8AC3E}">
        <p14:creationId xmlns:p14="http://schemas.microsoft.com/office/powerpoint/2010/main" val="32481323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2EA37-C43A-D08C-6557-56F9DC12EC1E}"/>
              </a:ext>
            </a:extLst>
          </p:cNvPr>
          <p:cNvSpPr>
            <a:spLocks noGrp="1"/>
          </p:cNvSpPr>
          <p:nvPr>
            <p:ph type="title"/>
          </p:nvPr>
        </p:nvSpPr>
        <p:spPr/>
        <p:txBody>
          <a:bodyPr/>
          <a:lstStyle/>
          <a:p>
            <a:r>
              <a:rPr lang="en-US" dirty="0"/>
              <a:t>Tickets </a:t>
            </a:r>
          </a:p>
        </p:txBody>
      </p:sp>
      <p:sp>
        <p:nvSpPr>
          <p:cNvPr id="3" name="Content Placeholder 2">
            <a:extLst>
              <a:ext uri="{FF2B5EF4-FFF2-40B4-BE49-F238E27FC236}">
                <a16:creationId xmlns:a16="http://schemas.microsoft.com/office/drawing/2014/main" id="{B913308B-806E-22FD-102B-DD2810A51031}"/>
              </a:ext>
            </a:extLst>
          </p:cNvPr>
          <p:cNvSpPr>
            <a:spLocks noGrp="1"/>
          </p:cNvSpPr>
          <p:nvPr>
            <p:ph idx="1"/>
          </p:nvPr>
        </p:nvSpPr>
        <p:spPr/>
        <p:txBody>
          <a:bodyPr/>
          <a:lstStyle/>
          <a:p>
            <a:r>
              <a:rPr lang="en-US" dirty="0"/>
              <a:t>No PO, Barcode Linked To Wrong Asin, Item not in catalog</a:t>
            </a:r>
          </a:p>
          <a:p>
            <a:r>
              <a:rPr lang="en-US" dirty="0">
                <a:hlinkClick r:id="rId2"/>
              </a:rPr>
              <a:t>https://na.iar.rbs.amazon.dev/home</a:t>
            </a:r>
            <a:endParaRPr lang="en-US" dirty="0"/>
          </a:p>
          <a:p>
            <a:endParaRPr lang="en-US" dirty="0"/>
          </a:p>
        </p:txBody>
      </p:sp>
      <p:pic>
        <p:nvPicPr>
          <p:cNvPr id="5" name="Picture 4">
            <a:extLst>
              <a:ext uri="{FF2B5EF4-FFF2-40B4-BE49-F238E27FC236}">
                <a16:creationId xmlns:a16="http://schemas.microsoft.com/office/drawing/2014/main" id="{9B6364ED-C067-3465-A866-3297866019F9}"/>
              </a:ext>
            </a:extLst>
          </p:cNvPr>
          <p:cNvPicPr>
            <a:picLocks noChangeAspect="1"/>
          </p:cNvPicPr>
          <p:nvPr/>
        </p:nvPicPr>
        <p:blipFill>
          <a:blip r:embed="rId3"/>
          <a:stretch>
            <a:fillRect/>
          </a:stretch>
        </p:blipFill>
        <p:spPr>
          <a:xfrm>
            <a:off x="457700" y="3032377"/>
            <a:ext cx="9035935" cy="3019843"/>
          </a:xfrm>
          <a:prstGeom prst="rect">
            <a:avLst/>
          </a:prstGeom>
        </p:spPr>
      </p:pic>
    </p:spTree>
    <p:extLst>
      <p:ext uri="{BB962C8B-B14F-4D97-AF65-F5344CB8AC3E}">
        <p14:creationId xmlns:p14="http://schemas.microsoft.com/office/powerpoint/2010/main" val="16349188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D7D4E-7039-24EA-3B83-84D4DA6B0394}"/>
              </a:ext>
            </a:extLst>
          </p:cNvPr>
          <p:cNvSpPr>
            <a:spLocks noGrp="1"/>
          </p:cNvSpPr>
          <p:nvPr>
            <p:ph type="title"/>
          </p:nvPr>
        </p:nvSpPr>
        <p:spPr/>
        <p:txBody>
          <a:bodyPr/>
          <a:lstStyle/>
          <a:p>
            <a:r>
              <a:rPr lang="en-US" dirty="0"/>
              <a:t>CODE 5 </a:t>
            </a:r>
          </a:p>
        </p:txBody>
      </p:sp>
      <p:sp>
        <p:nvSpPr>
          <p:cNvPr id="4" name="Rectangle 1">
            <a:extLst>
              <a:ext uri="{FF2B5EF4-FFF2-40B4-BE49-F238E27FC236}">
                <a16:creationId xmlns:a16="http://schemas.microsoft.com/office/drawing/2014/main" id="{DC3B26BB-EB4A-DDF1-1744-A1361DB9F3B1}"/>
              </a:ext>
            </a:extLst>
          </p:cNvPr>
          <p:cNvSpPr>
            <a:spLocks noChangeArrowheads="1"/>
          </p:cNvSpPr>
          <p:nvPr/>
        </p:nvSpPr>
        <p:spPr bwMode="auto">
          <a:xfrm rot="10800000" flipV="1">
            <a:off x="550679" y="782360"/>
            <a:ext cx="9164128" cy="2092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76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Suspected theft items should be </a:t>
            </a:r>
            <a:r>
              <a:rPr kumimoji="0" lang="en-US" altLang="en-US" sz="1800" b="1" i="0" u="none" strike="noStrike" cap="none" normalizeH="0" baseline="0" dirty="0">
                <a:ln>
                  <a:noFill/>
                </a:ln>
                <a:solidFill>
                  <a:schemeClr val="tx1"/>
                </a:solidFill>
                <a:effectLst/>
                <a:latin typeface="Arial" panose="020B0604020202020204" pitchFamily="34" charset="0"/>
              </a:rPr>
              <a:t>DAMAGED OUT</a:t>
            </a:r>
            <a:r>
              <a:rPr kumimoji="0" lang="en-US" altLang="en-US" sz="1800" b="0" i="0" u="none" strike="noStrike" cap="none" normalizeH="0" baseline="0" dirty="0">
                <a:ln>
                  <a:noFill/>
                </a:ln>
                <a:solidFill>
                  <a:schemeClr val="tx1"/>
                </a:solidFill>
                <a:effectLst/>
                <a:latin typeface="Arial" panose="020B0604020202020204" pitchFamily="34" charset="0"/>
              </a:rPr>
              <a:t> and a </a:t>
            </a:r>
            <a:r>
              <a:rPr kumimoji="0" lang="en-US" altLang="en-US" sz="1800" b="1" i="0" u="none" strike="noStrike" cap="none" normalizeH="0" baseline="0" dirty="0">
                <a:ln>
                  <a:noFill/>
                </a:ln>
                <a:solidFill>
                  <a:schemeClr val="tx1"/>
                </a:solidFill>
                <a:effectLst/>
                <a:latin typeface="Arial" panose="020B0604020202020204" pitchFamily="34" charset="0"/>
              </a:rPr>
              <a:t>CODE 5 Log</a:t>
            </a:r>
            <a:r>
              <a:rPr kumimoji="0" lang="en-US" altLang="en-US" sz="1800" b="0" i="0" u="none" strike="noStrike" cap="none" normalizeH="0" baseline="0" dirty="0">
                <a:ln>
                  <a:noFill/>
                </a:ln>
                <a:solidFill>
                  <a:schemeClr val="tx1"/>
                </a:solidFill>
                <a:effectLst/>
                <a:latin typeface="Arial" panose="020B0604020202020204" pitchFamily="34" charset="0"/>
              </a:rPr>
              <a:t> should be logged using this link </a:t>
            </a:r>
            <a:r>
              <a:rPr kumimoji="0" lang="en-US" altLang="en-US" sz="1800" b="0" i="0" u="none" strike="noStrike" cap="none" normalizeH="0" baseline="0" dirty="0">
                <a:ln>
                  <a:noFill/>
                </a:ln>
                <a:solidFill>
                  <a:srgbClr val="1264A3"/>
                </a:solidFill>
                <a:effectLst/>
                <a:latin typeface="Arial" panose="020B0604020202020204" pitchFamily="34" charset="0"/>
                <a:hlinkClick r:id="rId2"/>
              </a:rPr>
              <a:t>https://lossprevention.amazon.com/codefs/new</a:t>
            </a:r>
            <a:r>
              <a:rPr kumimoji="0" lang="en-US" altLang="en-US" sz="1800" b="0" i="0" u="none" strike="noStrike" cap="none" normalizeH="0" baseline="0" dirty="0">
                <a:ln>
                  <a:noFill/>
                </a:ln>
                <a:solidFill>
                  <a:schemeClr val="tx1"/>
                </a:solidFill>
                <a:effectLst/>
                <a:latin typeface="Arial" panose="020B0604020202020204" pitchFamily="34" charset="0"/>
              </a:rPr>
              <a:t> /If the suspected theft item cannot be attached to the tote (does not have an ASIN) then a ticket needs to be created for it </a:t>
            </a:r>
            <a:r>
              <a:rPr kumimoji="0" lang="en-US" altLang="en-US" sz="1800" b="0" i="1" u="none" strike="noStrike" cap="none" normalizeH="0" baseline="0" dirty="0">
                <a:ln>
                  <a:noFill/>
                </a:ln>
                <a:solidFill>
                  <a:schemeClr val="tx1"/>
                </a:solidFill>
                <a:effectLst/>
                <a:latin typeface="Arial" panose="020B0604020202020204" pitchFamily="34" charset="0"/>
              </a:rPr>
              <a:t>(</a:t>
            </a:r>
            <a:r>
              <a:rPr kumimoji="0" lang="en-US" altLang="en-US" sz="1800" b="0" u="none" strike="noStrike" cap="none" normalizeH="0" baseline="0" dirty="0">
                <a:ln>
                  <a:noFill/>
                </a:ln>
                <a:solidFill>
                  <a:schemeClr val="tx1"/>
                </a:solidFill>
                <a:effectLst/>
                <a:latin typeface="Arial" panose="020B0604020202020204" pitchFamily="34" charset="0"/>
              </a:rPr>
              <a:t>Please attach the DAMAGE QA FORM to damaged items) </a:t>
            </a:r>
          </a:p>
        </p:txBody>
      </p:sp>
      <p:pic>
        <p:nvPicPr>
          <p:cNvPr id="2050" name="Picture 2" descr=":alert:">
            <a:extLst>
              <a:ext uri="{FF2B5EF4-FFF2-40B4-BE49-F238E27FC236}">
                <a16:creationId xmlns:a16="http://schemas.microsoft.com/office/drawing/2014/main" id="{12B0B413-B4AA-C590-5342-20FAF395FC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11080" y="172758"/>
            <a:ext cx="1219200" cy="121920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9F797C9A-1A08-DF28-972A-662863B15CC4}"/>
              </a:ext>
            </a:extLst>
          </p:cNvPr>
          <p:cNvPicPr>
            <a:picLocks noChangeAspect="1"/>
          </p:cNvPicPr>
          <p:nvPr/>
        </p:nvPicPr>
        <p:blipFill>
          <a:blip r:embed="rId4"/>
          <a:stretch>
            <a:fillRect/>
          </a:stretch>
        </p:blipFill>
        <p:spPr>
          <a:xfrm>
            <a:off x="504075" y="3048000"/>
            <a:ext cx="8769927" cy="3211661"/>
          </a:xfrm>
          <a:prstGeom prst="rect">
            <a:avLst/>
          </a:prstGeom>
        </p:spPr>
      </p:pic>
    </p:spTree>
    <p:extLst>
      <p:ext uri="{BB962C8B-B14F-4D97-AF65-F5344CB8AC3E}">
        <p14:creationId xmlns:p14="http://schemas.microsoft.com/office/powerpoint/2010/main" val="11853228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83130-F8AD-516D-0A25-164C6D79EF08}"/>
              </a:ext>
            </a:extLst>
          </p:cNvPr>
          <p:cNvSpPr>
            <a:spLocks noGrp="1"/>
          </p:cNvSpPr>
          <p:nvPr>
            <p:ph type="title"/>
          </p:nvPr>
        </p:nvSpPr>
        <p:spPr/>
        <p:txBody>
          <a:bodyPr/>
          <a:lstStyle/>
          <a:p>
            <a:r>
              <a:rPr lang="en-US" dirty="0"/>
              <a:t>PANDASH * /Hazmat</a:t>
            </a:r>
            <a:br>
              <a:rPr lang="en-US" dirty="0"/>
            </a:br>
            <a:endParaRPr lang="en-US" dirty="0"/>
          </a:p>
        </p:txBody>
      </p:sp>
      <p:sp>
        <p:nvSpPr>
          <p:cNvPr id="3" name="Content Placeholder 2">
            <a:extLst>
              <a:ext uri="{FF2B5EF4-FFF2-40B4-BE49-F238E27FC236}">
                <a16:creationId xmlns:a16="http://schemas.microsoft.com/office/drawing/2014/main" id="{22332DAB-FFF6-26CB-2F43-6221BBEE2814}"/>
              </a:ext>
            </a:extLst>
          </p:cNvPr>
          <p:cNvSpPr>
            <a:spLocks noGrp="1"/>
          </p:cNvSpPr>
          <p:nvPr>
            <p:ph idx="1"/>
          </p:nvPr>
        </p:nvSpPr>
        <p:spPr/>
        <p:txBody>
          <a:bodyPr>
            <a:normAutofit lnSpcReduction="10000"/>
          </a:bodyPr>
          <a:lstStyle/>
          <a:p>
            <a:r>
              <a:rPr lang="en-US" dirty="0"/>
              <a:t>Used to show </a:t>
            </a:r>
            <a:r>
              <a:rPr lang="en-US" dirty="0" err="1"/>
              <a:t>cerftified</a:t>
            </a:r>
            <a:r>
              <a:rPr lang="en-US" dirty="0"/>
              <a:t> hazmat level for ASIN’S</a:t>
            </a:r>
          </a:p>
          <a:p>
            <a:r>
              <a:rPr lang="en-US" dirty="0"/>
              <a:t>IXD Site can receive level 1-5 hazmat </a:t>
            </a:r>
          </a:p>
          <a:p>
            <a:r>
              <a:rPr lang="en-US" dirty="0" err="1"/>
              <a:t>Pandash</a:t>
            </a:r>
            <a:r>
              <a:rPr lang="en-US" dirty="0"/>
              <a:t> Link - https://pandash.amazon.com/</a:t>
            </a:r>
          </a:p>
          <a:p>
            <a:r>
              <a:rPr lang="en-US" dirty="0"/>
              <a:t>Level 0 (Grey) requires a HCC ticket </a:t>
            </a:r>
            <a:r>
              <a:rPr lang="en-US" dirty="0">
                <a:hlinkClick r:id="rId2"/>
              </a:rPr>
              <a:t>https://river-iad.amazon.com/RYY2/workflows?buildingType=fc&amp;q0=3654ec14-7232-4f65-84c3-87927cdb4d0c&amp;q1=f2738dec-7f6f-4c2e-a85a-db7228de25f1&amp;id=f2738dec-7f6f-4c2e-a85a-db7228de25f1</a:t>
            </a:r>
            <a:endParaRPr lang="en-US" dirty="0"/>
          </a:p>
          <a:p>
            <a:pPr marL="0" indent="0">
              <a:buNone/>
            </a:pPr>
            <a:endParaRPr lang="en-US" dirty="0"/>
          </a:p>
          <a:p>
            <a:r>
              <a:rPr lang="en-US" dirty="0"/>
              <a:t>Can on use BOO,IBSN Label </a:t>
            </a:r>
          </a:p>
          <a:p>
            <a:r>
              <a:rPr lang="en-US" b="1" dirty="0"/>
              <a:t>FNSKU WILL NOT WORK</a:t>
            </a:r>
          </a:p>
          <a:p>
            <a:r>
              <a:rPr lang="en-US" dirty="0"/>
              <a:t>Level 5,6,7 Come straight to ISS NO TICKET NEEDED </a:t>
            </a:r>
          </a:p>
        </p:txBody>
      </p:sp>
      <p:pic>
        <p:nvPicPr>
          <p:cNvPr id="5" name="Picture 4">
            <a:extLst>
              <a:ext uri="{FF2B5EF4-FFF2-40B4-BE49-F238E27FC236}">
                <a16:creationId xmlns:a16="http://schemas.microsoft.com/office/drawing/2014/main" id="{AD582B33-B726-69F1-B582-637C33273BB6}"/>
              </a:ext>
            </a:extLst>
          </p:cNvPr>
          <p:cNvPicPr>
            <a:picLocks noChangeAspect="1"/>
          </p:cNvPicPr>
          <p:nvPr/>
        </p:nvPicPr>
        <p:blipFill>
          <a:blip r:embed="rId3"/>
          <a:stretch>
            <a:fillRect/>
          </a:stretch>
        </p:blipFill>
        <p:spPr>
          <a:xfrm>
            <a:off x="7327857" y="0"/>
            <a:ext cx="4864143" cy="3283527"/>
          </a:xfrm>
          <a:prstGeom prst="rect">
            <a:avLst/>
          </a:prstGeom>
        </p:spPr>
      </p:pic>
    </p:spTree>
    <p:extLst>
      <p:ext uri="{BB962C8B-B14F-4D97-AF65-F5344CB8AC3E}">
        <p14:creationId xmlns:p14="http://schemas.microsoft.com/office/powerpoint/2010/main" val="26079114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B1F78-CC56-332B-4E7D-715404651BAA}"/>
              </a:ext>
            </a:extLst>
          </p:cNvPr>
          <p:cNvSpPr>
            <a:spLocks noGrp="1"/>
          </p:cNvSpPr>
          <p:nvPr>
            <p:ph type="title"/>
          </p:nvPr>
        </p:nvSpPr>
        <p:spPr/>
        <p:txBody>
          <a:bodyPr/>
          <a:lstStyle/>
          <a:p>
            <a:r>
              <a:rPr lang="en-US" dirty="0"/>
              <a:t>Source Container Overview</a:t>
            </a:r>
            <a:br>
              <a:rPr lang="en-US" dirty="0"/>
            </a:br>
            <a:endParaRPr lang="en-US" dirty="0"/>
          </a:p>
        </p:txBody>
      </p:sp>
      <p:pic>
        <p:nvPicPr>
          <p:cNvPr id="13" name="Content Placeholder 12">
            <a:extLst>
              <a:ext uri="{FF2B5EF4-FFF2-40B4-BE49-F238E27FC236}">
                <a16:creationId xmlns:a16="http://schemas.microsoft.com/office/drawing/2014/main" id="{24C2167F-4BF0-20DB-362B-3157CF5042F6}"/>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r="11909"/>
          <a:stretch/>
        </p:blipFill>
        <p:spPr>
          <a:xfrm>
            <a:off x="386582" y="1512196"/>
            <a:ext cx="2531415" cy="3375221"/>
          </a:xfrm>
        </p:spPr>
      </p:pic>
      <p:pic>
        <p:nvPicPr>
          <p:cNvPr id="17" name="Picture 16">
            <a:extLst>
              <a:ext uri="{FF2B5EF4-FFF2-40B4-BE49-F238E27FC236}">
                <a16:creationId xmlns:a16="http://schemas.microsoft.com/office/drawing/2014/main" id="{0F1320A2-68EA-BD55-B1BC-0B39F2112A27}"/>
              </a:ext>
            </a:extLst>
          </p:cNvPr>
          <p:cNvPicPr>
            <a:picLocks noChangeAspect="1"/>
          </p:cNvPicPr>
          <p:nvPr/>
        </p:nvPicPr>
        <p:blipFill>
          <a:blip r:embed="rId3">
            <a:extLst>
              <a:ext uri="{28A0092B-C50C-407E-A947-70E740481C1C}">
                <a14:useLocalDpi xmlns:a14="http://schemas.microsoft.com/office/drawing/2010/main" val="0"/>
              </a:ext>
            </a:extLst>
          </a:blip>
          <a:srcRect l="-4043" t="-38887" r="4325" b="6071"/>
          <a:stretch/>
        </p:blipFill>
        <p:spPr>
          <a:xfrm>
            <a:off x="3300735" y="170180"/>
            <a:ext cx="3008626" cy="4642890"/>
          </a:xfrm>
          <a:prstGeom prst="rect">
            <a:avLst/>
          </a:prstGeom>
        </p:spPr>
      </p:pic>
      <p:pic>
        <p:nvPicPr>
          <p:cNvPr id="19" name="Picture 18">
            <a:extLst>
              <a:ext uri="{FF2B5EF4-FFF2-40B4-BE49-F238E27FC236}">
                <a16:creationId xmlns:a16="http://schemas.microsoft.com/office/drawing/2014/main" id="{F90E6461-80A7-AF13-45F4-D843E689C09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63735" y="1512196"/>
            <a:ext cx="2601018" cy="3468024"/>
          </a:xfrm>
          <a:prstGeom prst="rect">
            <a:avLst/>
          </a:prstGeom>
        </p:spPr>
      </p:pic>
      <p:sp>
        <p:nvSpPr>
          <p:cNvPr id="20" name="TextBox 19">
            <a:extLst>
              <a:ext uri="{FF2B5EF4-FFF2-40B4-BE49-F238E27FC236}">
                <a16:creationId xmlns:a16="http://schemas.microsoft.com/office/drawing/2014/main" id="{9703A4FB-0325-6396-945E-5F736997ADF9}"/>
              </a:ext>
            </a:extLst>
          </p:cNvPr>
          <p:cNvSpPr txBox="1"/>
          <p:nvPr/>
        </p:nvSpPr>
        <p:spPr>
          <a:xfrm>
            <a:off x="386582" y="4964315"/>
            <a:ext cx="2302626" cy="923330"/>
          </a:xfrm>
          <a:prstGeom prst="rect">
            <a:avLst/>
          </a:prstGeom>
          <a:noFill/>
        </p:spPr>
        <p:txBody>
          <a:bodyPr wrap="square" rtlCol="0">
            <a:spAutoFit/>
          </a:bodyPr>
          <a:lstStyle/>
          <a:p>
            <a:r>
              <a:rPr lang="en-US" dirty="0"/>
              <a:t>CSX:</a:t>
            </a:r>
            <a:br>
              <a:rPr lang="en-US" dirty="0"/>
            </a:br>
            <a:r>
              <a:rPr lang="en-US" dirty="0"/>
              <a:t>“c” is for cases/cartons</a:t>
            </a:r>
          </a:p>
        </p:txBody>
      </p:sp>
      <p:sp>
        <p:nvSpPr>
          <p:cNvPr id="21" name="TextBox 20">
            <a:extLst>
              <a:ext uri="{FF2B5EF4-FFF2-40B4-BE49-F238E27FC236}">
                <a16:creationId xmlns:a16="http://schemas.microsoft.com/office/drawing/2014/main" id="{8ED62F21-A0E0-BF20-B75E-2A57011FDF47}"/>
              </a:ext>
            </a:extLst>
          </p:cNvPr>
          <p:cNvSpPr txBox="1"/>
          <p:nvPr/>
        </p:nvSpPr>
        <p:spPr>
          <a:xfrm>
            <a:off x="2689208" y="4887417"/>
            <a:ext cx="3281604" cy="646331"/>
          </a:xfrm>
          <a:prstGeom prst="rect">
            <a:avLst/>
          </a:prstGeom>
          <a:noFill/>
        </p:spPr>
        <p:txBody>
          <a:bodyPr wrap="none" rtlCol="0">
            <a:spAutoFit/>
          </a:bodyPr>
          <a:lstStyle/>
          <a:p>
            <a:r>
              <a:rPr lang="en-US" dirty="0"/>
              <a:t>PAX: “p” is for placed a single</a:t>
            </a:r>
          </a:p>
          <a:p>
            <a:r>
              <a:rPr lang="en-US" dirty="0"/>
              <a:t> </a:t>
            </a:r>
            <a:r>
              <a:rPr lang="en-US" dirty="0" err="1"/>
              <a:t>asin</a:t>
            </a:r>
            <a:r>
              <a:rPr lang="en-US" dirty="0"/>
              <a:t> pallets </a:t>
            </a:r>
          </a:p>
        </p:txBody>
      </p:sp>
      <p:sp>
        <p:nvSpPr>
          <p:cNvPr id="22" name="TextBox 21">
            <a:extLst>
              <a:ext uri="{FF2B5EF4-FFF2-40B4-BE49-F238E27FC236}">
                <a16:creationId xmlns:a16="http://schemas.microsoft.com/office/drawing/2014/main" id="{46C646D4-EC25-23C9-0A7E-9A10119B24F8}"/>
              </a:ext>
            </a:extLst>
          </p:cNvPr>
          <p:cNvSpPr txBox="1"/>
          <p:nvPr/>
        </p:nvSpPr>
        <p:spPr>
          <a:xfrm>
            <a:off x="7259314" y="5161138"/>
            <a:ext cx="2305439" cy="369332"/>
          </a:xfrm>
          <a:prstGeom prst="rect">
            <a:avLst/>
          </a:prstGeom>
          <a:noFill/>
        </p:spPr>
        <p:txBody>
          <a:bodyPr wrap="none" rtlCol="0">
            <a:spAutoFit/>
          </a:bodyPr>
          <a:lstStyle/>
          <a:p>
            <a:r>
              <a:rPr lang="en-US" dirty="0"/>
              <a:t>TSX: “t” is for totes </a:t>
            </a:r>
          </a:p>
        </p:txBody>
      </p:sp>
      <p:sp>
        <p:nvSpPr>
          <p:cNvPr id="23" name="TextBox 22">
            <a:extLst>
              <a:ext uri="{FF2B5EF4-FFF2-40B4-BE49-F238E27FC236}">
                <a16:creationId xmlns:a16="http://schemas.microsoft.com/office/drawing/2014/main" id="{96608B3E-769A-D096-39CC-E9612FF2900F}"/>
              </a:ext>
            </a:extLst>
          </p:cNvPr>
          <p:cNvSpPr txBox="1"/>
          <p:nvPr/>
        </p:nvSpPr>
        <p:spPr>
          <a:xfrm>
            <a:off x="473825" y="6318488"/>
            <a:ext cx="8875315" cy="369332"/>
          </a:xfrm>
          <a:prstGeom prst="rect">
            <a:avLst/>
          </a:prstGeom>
          <a:noFill/>
        </p:spPr>
        <p:txBody>
          <a:bodyPr wrap="none" rtlCol="0">
            <a:spAutoFit/>
          </a:bodyPr>
          <a:lstStyle/>
          <a:p>
            <a:r>
              <a:rPr lang="en-US" b="1" dirty="0"/>
              <a:t>SORT CAN USE DUMMY CONTINERS ONLY FOR THE ITEMS COMING DOWN THE LINE</a:t>
            </a:r>
          </a:p>
        </p:txBody>
      </p:sp>
    </p:spTree>
    <p:extLst>
      <p:ext uri="{BB962C8B-B14F-4D97-AF65-F5344CB8AC3E}">
        <p14:creationId xmlns:p14="http://schemas.microsoft.com/office/powerpoint/2010/main" val="39551846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FD003-FC25-923D-C68B-F740CA40A6B2}"/>
              </a:ext>
            </a:extLst>
          </p:cNvPr>
          <p:cNvSpPr>
            <a:spLocks noGrp="1"/>
          </p:cNvSpPr>
          <p:nvPr>
            <p:ph type="title"/>
          </p:nvPr>
        </p:nvSpPr>
        <p:spPr>
          <a:xfrm>
            <a:off x="495993" y="185651"/>
            <a:ext cx="8596668" cy="1320800"/>
          </a:xfrm>
        </p:spPr>
        <p:txBody>
          <a:bodyPr/>
          <a:lstStyle/>
          <a:p>
            <a:r>
              <a:rPr lang="en-US" dirty="0"/>
              <a:t> Step By Step PS OUTBOUND</a:t>
            </a:r>
          </a:p>
        </p:txBody>
      </p:sp>
      <p:sp>
        <p:nvSpPr>
          <p:cNvPr id="3" name="Content Placeholder 2">
            <a:extLst>
              <a:ext uri="{FF2B5EF4-FFF2-40B4-BE49-F238E27FC236}">
                <a16:creationId xmlns:a16="http://schemas.microsoft.com/office/drawing/2014/main" id="{40A5F212-938E-A3CA-08A4-E1AABC83568F}"/>
              </a:ext>
            </a:extLst>
          </p:cNvPr>
          <p:cNvSpPr>
            <a:spLocks noGrp="1"/>
          </p:cNvSpPr>
          <p:nvPr>
            <p:ph idx="1"/>
          </p:nvPr>
        </p:nvSpPr>
        <p:spPr>
          <a:xfrm>
            <a:off x="141316" y="947651"/>
            <a:ext cx="11554691" cy="6026727"/>
          </a:xfrm>
        </p:spPr>
        <p:txBody>
          <a:bodyPr>
            <a:normAutofit fontScale="70000" lnSpcReduction="20000"/>
          </a:bodyPr>
          <a:lstStyle/>
          <a:p>
            <a:pPr marL="0" marR="0"/>
            <a:r>
              <a:rPr lang="en-US" b="1" dirty="0">
                <a:solidFill>
                  <a:srgbClr val="1D1C1D"/>
                </a:solidFill>
                <a:effectLst/>
              </a:rPr>
              <a:t>Problem solve Outbound: Basics</a:t>
            </a:r>
            <a:br>
              <a:rPr lang="en-US" dirty="0">
                <a:solidFill>
                  <a:srgbClr val="1D1C1D"/>
                </a:solidFill>
                <a:effectLst/>
              </a:rPr>
            </a:br>
            <a:r>
              <a:rPr lang="en-US" dirty="0">
                <a:solidFill>
                  <a:srgbClr val="1D1C1D"/>
                </a:solidFill>
                <a:effectLst/>
              </a:rPr>
              <a:t>-First you want to scan the FBA label for the SSCC label in FC research.</a:t>
            </a:r>
            <a:br>
              <a:rPr lang="en-US" dirty="0">
                <a:solidFill>
                  <a:srgbClr val="1D1C1D"/>
                </a:solidFill>
                <a:effectLst/>
              </a:rPr>
            </a:br>
            <a:r>
              <a:rPr lang="en-US" dirty="0">
                <a:solidFill>
                  <a:srgbClr val="1D1C1D"/>
                </a:solidFill>
                <a:effectLst/>
              </a:rPr>
              <a:t>-Go to FC research click on the item click on purchase order items and make sure that unfilled and canceled has zero if not this means it will need to be received.(EACH)—</a:t>
            </a:r>
            <a:br>
              <a:rPr lang="en-US" dirty="0">
                <a:solidFill>
                  <a:srgbClr val="1D1C1D"/>
                </a:solidFill>
                <a:effectLst/>
              </a:rPr>
            </a:br>
            <a:r>
              <a:rPr lang="en-US" dirty="0">
                <a:solidFill>
                  <a:srgbClr val="1D1C1D"/>
                </a:solidFill>
                <a:effectLst/>
              </a:rPr>
              <a:t>-Always make sure there is inventory on FC research and that it matches the item in the container. </a:t>
            </a:r>
            <a:br>
              <a:rPr lang="en-US" dirty="0">
                <a:solidFill>
                  <a:srgbClr val="1D1C1D"/>
                </a:solidFill>
                <a:effectLst/>
              </a:rPr>
            </a:br>
            <a:r>
              <a:rPr lang="en-US" dirty="0">
                <a:solidFill>
                  <a:srgbClr val="1D1C1D"/>
                </a:solidFill>
                <a:effectLst/>
              </a:rPr>
              <a:t>-If you do not see inventory you can always go to inventory history and click on the calendar go back as far as it will let you in the dates and then it may have inventory.</a:t>
            </a:r>
            <a:br>
              <a:rPr lang="en-US" dirty="0">
                <a:solidFill>
                  <a:srgbClr val="1D1C1D"/>
                </a:solidFill>
                <a:effectLst/>
              </a:rPr>
            </a:br>
            <a:r>
              <a:rPr lang="en-US" dirty="0">
                <a:solidFill>
                  <a:srgbClr val="1D1C1D"/>
                </a:solidFill>
                <a:effectLst/>
              </a:rPr>
              <a:t>-Check the Carton General information to make sure the item has been received and the CSX matches if not, it can be side lined. </a:t>
            </a:r>
            <a:br>
              <a:rPr lang="en-US" dirty="0">
                <a:solidFill>
                  <a:srgbClr val="1D1C1D"/>
                </a:solidFill>
                <a:effectLst/>
              </a:rPr>
            </a:br>
            <a:r>
              <a:rPr lang="en-US" dirty="0">
                <a:solidFill>
                  <a:srgbClr val="1D1C1D"/>
                </a:solidFill>
                <a:effectLst/>
              </a:rPr>
              <a:t>You want to see </a:t>
            </a:r>
            <a:r>
              <a:rPr lang="en-US" b="1" dirty="0">
                <a:solidFill>
                  <a:srgbClr val="1D1C1D"/>
                </a:solidFill>
                <a:effectLst/>
              </a:rPr>
              <a:t>sellable</a:t>
            </a:r>
            <a:r>
              <a:rPr lang="en-US" dirty="0">
                <a:solidFill>
                  <a:srgbClr val="1D1C1D"/>
                </a:solidFill>
                <a:effectLst/>
              </a:rPr>
              <a:t> </a:t>
            </a:r>
            <a:r>
              <a:rPr lang="en-US" b="1" dirty="0">
                <a:solidFill>
                  <a:srgbClr val="1D1C1D"/>
                </a:solidFill>
                <a:effectLst/>
              </a:rPr>
              <a:t>unowned</a:t>
            </a:r>
            <a:r>
              <a:rPr lang="en-US" dirty="0">
                <a:solidFill>
                  <a:srgbClr val="1D1C1D"/>
                </a:solidFill>
                <a:effectLst/>
              </a:rPr>
              <a:t> after you see this you want to transship the item which will then give you a destination.</a:t>
            </a:r>
            <a:br>
              <a:rPr lang="en-US" dirty="0">
                <a:solidFill>
                  <a:srgbClr val="1D1C1D"/>
                </a:solidFill>
                <a:effectLst/>
              </a:rPr>
            </a:br>
            <a:r>
              <a:rPr lang="en-US" dirty="0">
                <a:solidFill>
                  <a:srgbClr val="1D1C1D"/>
                </a:solidFill>
                <a:effectLst/>
              </a:rPr>
              <a:t>Scan the item again in FC research to make sure it says sellable transshipment.</a:t>
            </a:r>
            <a:br>
              <a:rPr lang="en-US" dirty="0">
                <a:solidFill>
                  <a:srgbClr val="1D1C1D"/>
                </a:solidFill>
                <a:effectLst/>
              </a:rPr>
            </a:br>
            <a:r>
              <a:rPr lang="en-US" dirty="0">
                <a:solidFill>
                  <a:srgbClr val="1D1C1D"/>
                </a:solidFill>
                <a:effectLst/>
              </a:rPr>
              <a:t>-If an item will not transship and it’s saying </a:t>
            </a:r>
            <a:r>
              <a:rPr lang="en-US" b="1" dirty="0">
                <a:solidFill>
                  <a:srgbClr val="1D1C1D"/>
                </a:solidFill>
                <a:effectLst/>
              </a:rPr>
              <a:t>Failed to get destination </a:t>
            </a:r>
            <a:r>
              <a:rPr lang="en-US" dirty="0">
                <a:solidFill>
                  <a:srgbClr val="1D1C1D"/>
                </a:solidFill>
                <a:effectLst/>
              </a:rPr>
              <a:t>check in FC research under sortable and make sure it says true if it says false that means you have to sideline that item out of that tote that it cannot be sorted with another item.</a:t>
            </a:r>
            <a:br>
              <a:rPr lang="en-US" dirty="0">
                <a:solidFill>
                  <a:srgbClr val="1D1C1D"/>
                </a:solidFill>
                <a:effectLst/>
              </a:rPr>
            </a:br>
            <a:r>
              <a:rPr lang="en-US" dirty="0">
                <a:solidFill>
                  <a:srgbClr val="1D1C1D"/>
                </a:solidFill>
                <a:effectLst/>
              </a:rPr>
              <a:t>-Also if it gives you this </a:t>
            </a:r>
            <a:r>
              <a:rPr lang="en-US" b="1" dirty="0">
                <a:solidFill>
                  <a:srgbClr val="1D1C1D"/>
                </a:solidFill>
                <a:effectLst/>
              </a:rPr>
              <a:t>failed to get destination</a:t>
            </a:r>
            <a:r>
              <a:rPr lang="en-US" dirty="0">
                <a:solidFill>
                  <a:srgbClr val="1D1C1D"/>
                </a:solidFill>
                <a:effectLst/>
              </a:rPr>
              <a:t>, then you can scan the B00 in </a:t>
            </a:r>
            <a:r>
              <a:rPr lang="en-US" dirty="0" err="1">
                <a:solidFill>
                  <a:srgbClr val="1D1C1D"/>
                </a:solidFill>
                <a:effectLst/>
              </a:rPr>
              <a:t>pandash</a:t>
            </a:r>
            <a:r>
              <a:rPr lang="en-US" dirty="0">
                <a:solidFill>
                  <a:srgbClr val="1D1C1D"/>
                </a:solidFill>
                <a:effectLst/>
              </a:rPr>
              <a:t> click on US .If it shows gray its level 0 it needs a ticket through River then brought to ISS. If it’s red it’s level 5 and it comes to ISS.</a:t>
            </a:r>
            <a:br>
              <a:rPr lang="en-US" dirty="0">
                <a:solidFill>
                  <a:srgbClr val="1D1C1D"/>
                </a:solidFill>
                <a:effectLst/>
              </a:rPr>
            </a:br>
            <a:endParaRPr lang="en-US" dirty="0">
              <a:solidFill>
                <a:srgbClr val="1D1C1D"/>
              </a:solidFill>
              <a:effectLst/>
            </a:endParaRPr>
          </a:p>
          <a:p>
            <a:pPr marL="0" marR="0"/>
            <a:r>
              <a:rPr lang="en-US" dirty="0">
                <a:solidFill>
                  <a:srgbClr val="1D1C1D"/>
                </a:solidFill>
                <a:effectLst/>
              </a:rPr>
              <a:t>The following Dispositions will come to ISS:</a:t>
            </a:r>
            <a:br>
              <a:rPr lang="en-US" dirty="0">
                <a:solidFill>
                  <a:srgbClr val="1D1C1D"/>
                </a:solidFill>
                <a:effectLst/>
              </a:rPr>
            </a:br>
            <a:endParaRPr lang="en-US" dirty="0">
              <a:solidFill>
                <a:srgbClr val="1D1C1D"/>
              </a:solidFill>
              <a:effectLst/>
            </a:endParaRPr>
          </a:p>
          <a:p>
            <a:pPr marL="0" marR="0">
              <a:buFont typeface="Arial" panose="020B0604020202020204" pitchFamily="34" charset="0"/>
              <a:buChar char="•"/>
            </a:pPr>
            <a:r>
              <a:rPr lang="en-US" b="1" dirty="0">
                <a:solidFill>
                  <a:srgbClr val="1D1C1D"/>
                </a:solidFill>
                <a:effectLst/>
              </a:rPr>
              <a:t>In Quarantine</a:t>
            </a:r>
          </a:p>
          <a:p>
            <a:pPr marL="0" marR="0">
              <a:buFont typeface="Arial" panose="020B0604020202020204" pitchFamily="34" charset="0"/>
              <a:buChar char="•"/>
            </a:pPr>
            <a:r>
              <a:rPr lang="en-US" b="1" dirty="0">
                <a:solidFill>
                  <a:srgbClr val="1D1C1D"/>
                </a:solidFill>
              </a:rPr>
              <a:t>Damages (unless it is transship)</a:t>
            </a:r>
          </a:p>
          <a:p>
            <a:pPr marL="0" marR="0">
              <a:buFont typeface="Arial" panose="020B0604020202020204" pitchFamily="34" charset="0"/>
              <a:buChar char="•"/>
            </a:pPr>
            <a:r>
              <a:rPr lang="en-US" b="1" dirty="0">
                <a:solidFill>
                  <a:srgbClr val="1D1C1D"/>
                </a:solidFill>
              </a:rPr>
              <a:t>Expired</a:t>
            </a:r>
            <a:endParaRPr lang="en-US" b="1" dirty="0">
              <a:solidFill>
                <a:srgbClr val="1D1C1D"/>
              </a:solidFill>
              <a:effectLst/>
            </a:endParaRPr>
          </a:p>
          <a:p>
            <a:pPr marL="0" marR="0">
              <a:buFont typeface="Arial" panose="020B0604020202020204" pitchFamily="34" charset="0"/>
              <a:buChar char="•"/>
            </a:pPr>
            <a:r>
              <a:rPr lang="en-US" b="1" dirty="0">
                <a:solidFill>
                  <a:srgbClr val="1D1C1D"/>
                </a:solidFill>
                <a:effectLst/>
              </a:rPr>
              <a:t>Defective</a:t>
            </a:r>
            <a:endParaRPr lang="en-US" dirty="0">
              <a:solidFill>
                <a:srgbClr val="1D1C1D"/>
              </a:solidFill>
              <a:effectLst/>
            </a:endParaRPr>
          </a:p>
          <a:p>
            <a:pPr marL="0" marR="0">
              <a:buFont typeface="Arial" panose="020B0604020202020204" pitchFamily="34" charset="0"/>
              <a:buChar char="•"/>
            </a:pPr>
            <a:r>
              <a:rPr lang="en-US" b="1" dirty="0">
                <a:solidFill>
                  <a:srgbClr val="1D1C1D"/>
                </a:solidFill>
                <a:effectLst/>
              </a:rPr>
              <a:t>Pending Research</a:t>
            </a:r>
            <a:endParaRPr lang="en-US" dirty="0">
              <a:solidFill>
                <a:srgbClr val="1D1C1D"/>
              </a:solidFill>
              <a:effectLst/>
            </a:endParaRPr>
          </a:p>
          <a:p>
            <a:pPr marL="0" marR="0">
              <a:buFont typeface="Arial" panose="020B0604020202020204" pitchFamily="34" charset="0"/>
              <a:buChar char="•"/>
            </a:pPr>
            <a:r>
              <a:rPr lang="en-US" b="1" dirty="0">
                <a:solidFill>
                  <a:srgbClr val="1D1C1D"/>
                </a:solidFill>
                <a:effectLst/>
              </a:rPr>
              <a:t>ISS tickets(No PO, Item not in Catalog, Barcode links wrong item, Barcode not linked. )</a:t>
            </a:r>
            <a:endParaRPr lang="en-US" dirty="0">
              <a:solidFill>
                <a:srgbClr val="1D1C1D"/>
              </a:solidFill>
              <a:effectLst/>
            </a:endParaRPr>
          </a:p>
          <a:p>
            <a:pPr marL="0" marR="0">
              <a:buFont typeface="Arial" panose="020B0604020202020204" pitchFamily="34" charset="0"/>
              <a:buChar char="•"/>
            </a:pPr>
            <a:r>
              <a:rPr lang="en-US" b="1" dirty="0">
                <a:solidFill>
                  <a:srgbClr val="1D1C1D"/>
                </a:solidFill>
                <a:effectLst/>
              </a:rPr>
              <a:t>Hazmat (HCC tickets) (Level 0 through RIVER)</a:t>
            </a:r>
            <a:endParaRPr lang="en-US" dirty="0">
              <a:solidFill>
                <a:srgbClr val="1D1C1D"/>
              </a:solidFill>
              <a:effectLst/>
            </a:endParaRPr>
          </a:p>
          <a:p>
            <a:pPr marL="0" marR="0">
              <a:buFont typeface="Arial" panose="020B0604020202020204" pitchFamily="34" charset="0"/>
              <a:buChar char="•"/>
            </a:pPr>
            <a:r>
              <a:rPr lang="en-US" b="1" dirty="0">
                <a:solidFill>
                  <a:srgbClr val="1D1C1D"/>
                </a:solidFill>
                <a:effectLst/>
              </a:rPr>
              <a:t>Problem Receive</a:t>
            </a:r>
            <a:endParaRPr lang="en-US" dirty="0">
              <a:solidFill>
                <a:srgbClr val="1D1C1D"/>
              </a:solidFill>
              <a:effectLst/>
            </a:endParaRPr>
          </a:p>
          <a:p>
            <a:pPr marL="0" marR="0"/>
            <a:r>
              <a:rPr lang="en-US" b="1" dirty="0">
                <a:solidFill>
                  <a:srgbClr val="1D1C1D"/>
                </a:solidFill>
                <a:effectLst/>
              </a:rPr>
              <a:t>-Only use Side line if there is inventory in the box and that the item has been received, and that there is nothing unfilled or canceled.</a:t>
            </a:r>
            <a:br>
              <a:rPr lang="en-US" dirty="0">
                <a:solidFill>
                  <a:srgbClr val="1D1C1D"/>
                </a:solidFill>
                <a:effectLst/>
              </a:rPr>
            </a:br>
            <a:r>
              <a:rPr lang="en-US" b="1" dirty="0">
                <a:solidFill>
                  <a:srgbClr val="1D1C1D"/>
                </a:solidFill>
                <a:effectLst/>
              </a:rPr>
              <a:t>-You can use sideline when damaging an item 1st-scan the container the item comes in 2nd Scan the damaged item 3rd click on damaged. 4th put the quantity. ***Make sure you double bag anything leaking make sure you print the ASIN stick it to the outside of the bag and ALWAYS fill out a damage form. Be sure to wrap any kind of glass or broken objects in bubble wrap.****</a:t>
            </a:r>
            <a:endParaRPr lang="en-US" dirty="0">
              <a:solidFill>
                <a:srgbClr val="1D1C1D"/>
              </a:solidFill>
              <a:effectLst/>
            </a:endParaRPr>
          </a:p>
          <a:p>
            <a:pPr marL="0" indent="0">
              <a:buNone/>
            </a:pPr>
            <a:endParaRPr lang="en-US" dirty="0"/>
          </a:p>
        </p:txBody>
      </p:sp>
    </p:spTree>
    <p:extLst>
      <p:ext uri="{BB962C8B-B14F-4D97-AF65-F5344CB8AC3E}">
        <p14:creationId xmlns:p14="http://schemas.microsoft.com/office/powerpoint/2010/main" val="20814504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0CD47-75EE-5A7D-333B-86E139AE01FB}"/>
              </a:ext>
            </a:extLst>
          </p:cNvPr>
          <p:cNvSpPr>
            <a:spLocks noGrp="1"/>
          </p:cNvSpPr>
          <p:nvPr>
            <p:ph type="title"/>
          </p:nvPr>
        </p:nvSpPr>
        <p:spPr/>
        <p:txBody>
          <a:bodyPr/>
          <a:lstStyle/>
          <a:p>
            <a:r>
              <a:rPr lang="en-US" dirty="0"/>
              <a:t>Step By Step Inbound PS</a:t>
            </a:r>
          </a:p>
        </p:txBody>
      </p:sp>
      <p:sp>
        <p:nvSpPr>
          <p:cNvPr id="3" name="Content Placeholder 2">
            <a:extLst>
              <a:ext uri="{FF2B5EF4-FFF2-40B4-BE49-F238E27FC236}">
                <a16:creationId xmlns:a16="http://schemas.microsoft.com/office/drawing/2014/main" id="{93834FC1-11FD-34AA-2BCD-6F9CC49A52FC}"/>
              </a:ext>
            </a:extLst>
          </p:cNvPr>
          <p:cNvSpPr>
            <a:spLocks noGrp="1"/>
          </p:cNvSpPr>
          <p:nvPr>
            <p:ph idx="1"/>
          </p:nvPr>
        </p:nvSpPr>
        <p:spPr/>
        <p:txBody>
          <a:bodyPr/>
          <a:lstStyle/>
          <a:p>
            <a:r>
              <a:rPr lang="en-US" dirty="0"/>
              <a:t>Open Carton Pre-Editor scan all the label's on the box, press enter and it will give you a destination for the case.(PIDS)</a:t>
            </a:r>
          </a:p>
          <a:p>
            <a:endParaRPr lang="en-US" dirty="0"/>
          </a:p>
        </p:txBody>
      </p:sp>
      <p:pic>
        <p:nvPicPr>
          <p:cNvPr id="5" name="Picture 4">
            <a:extLst>
              <a:ext uri="{FF2B5EF4-FFF2-40B4-BE49-F238E27FC236}">
                <a16:creationId xmlns:a16="http://schemas.microsoft.com/office/drawing/2014/main" id="{EC4F0248-359D-4260-9C4F-82D7CB379710}"/>
              </a:ext>
            </a:extLst>
          </p:cNvPr>
          <p:cNvPicPr>
            <a:picLocks noChangeAspect="1"/>
          </p:cNvPicPr>
          <p:nvPr/>
        </p:nvPicPr>
        <p:blipFill>
          <a:blip r:embed="rId2"/>
          <a:stretch>
            <a:fillRect/>
          </a:stretch>
        </p:blipFill>
        <p:spPr>
          <a:xfrm>
            <a:off x="3325566" y="3180051"/>
            <a:ext cx="8866434" cy="3495100"/>
          </a:xfrm>
          <a:prstGeom prst="rect">
            <a:avLst/>
          </a:prstGeom>
        </p:spPr>
      </p:pic>
    </p:spTree>
    <p:extLst>
      <p:ext uri="{BB962C8B-B14F-4D97-AF65-F5344CB8AC3E}">
        <p14:creationId xmlns:p14="http://schemas.microsoft.com/office/powerpoint/2010/main" val="8610852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D8108-CABE-A572-6E6F-42E016681586}"/>
              </a:ext>
            </a:extLst>
          </p:cNvPr>
          <p:cNvSpPr>
            <a:spLocks noGrp="1"/>
          </p:cNvSpPr>
          <p:nvPr>
            <p:ph type="title"/>
          </p:nvPr>
        </p:nvSpPr>
        <p:spPr/>
        <p:txBody>
          <a:bodyPr/>
          <a:lstStyle/>
          <a:p>
            <a:r>
              <a:rPr lang="en-US" dirty="0"/>
              <a:t>Step By Step RPN</a:t>
            </a:r>
          </a:p>
        </p:txBody>
      </p:sp>
      <p:sp>
        <p:nvSpPr>
          <p:cNvPr id="3" name="Content Placeholder 2">
            <a:extLst>
              <a:ext uri="{FF2B5EF4-FFF2-40B4-BE49-F238E27FC236}">
                <a16:creationId xmlns:a16="http://schemas.microsoft.com/office/drawing/2014/main" id="{E1991CF5-A8DB-1BB7-F67B-87DA0C26E870}"/>
              </a:ext>
            </a:extLst>
          </p:cNvPr>
          <p:cNvSpPr>
            <a:spLocks noGrp="1"/>
          </p:cNvSpPr>
          <p:nvPr>
            <p:ph idx="1"/>
          </p:nvPr>
        </p:nvSpPr>
        <p:spPr/>
        <p:txBody>
          <a:bodyPr/>
          <a:lstStyle/>
          <a:p>
            <a:r>
              <a:rPr lang="en-US" dirty="0"/>
              <a:t>Open FC Research: check and see if the item has been received if it hasn’t receive it in.</a:t>
            </a:r>
          </a:p>
          <a:p>
            <a:r>
              <a:rPr lang="en-US" dirty="0"/>
              <a:t>Problem solvers can use the PO to receive items in, but NOT on a station</a:t>
            </a:r>
          </a:p>
          <a:p>
            <a:r>
              <a:rPr lang="en-US" dirty="0"/>
              <a:t> If you cant find the item, use </a:t>
            </a:r>
            <a:r>
              <a:rPr lang="en-US" dirty="0" err="1"/>
              <a:t>DR.Sku</a:t>
            </a:r>
            <a:r>
              <a:rPr lang="en-US" dirty="0"/>
              <a:t> </a:t>
            </a:r>
          </a:p>
        </p:txBody>
      </p:sp>
      <p:pic>
        <p:nvPicPr>
          <p:cNvPr id="5" name="Picture 4">
            <a:extLst>
              <a:ext uri="{FF2B5EF4-FFF2-40B4-BE49-F238E27FC236}">
                <a16:creationId xmlns:a16="http://schemas.microsoft.com/office/drawing/2014/main" id="{9C7AFCA8-6849-75C5-B59F-DE354566193D}"/>
              </a:ext>
            </a:extLst>
          </p:cNvPr>
          <p:cNvPicPr>
            <a:picLocks noChangeAspect="1"/>
          </p:cNvPicPr>
          <p:nvPr/>
        </p:nvPicPr>
        <p:blipFill>
          <a:blip r:embed="rId2"/>
          <a:stretch>
            <a:fillRect/>
          </a:stretch>
        </p:blipFill>
        <p:spPr>
          <a:xfrm>
            <a:off x="9274002" y="0"/>
            <a:ext cx="2932981" cy="1453847"/>
          </a:xfrm>
          <a:prstGeom prst="rect">
            <a:avLst/>
          </a:prstGeom>
        </p:spPr>
      </p:pic>
      <p:pic>
        <p:nvPicPr>
          <p:cNvPr id="7" name="Picture 6">
            <a:extLst>
              <a:ext uri="{FF2B5EF4-FFF2-40B4-BE49-F238E27FC236}">
                <a16:creationId xmlns:a16="http://schemas.microsoft.com/office/drawing/2014/main" id="{BBF0F337-C1E4-3A51-1571-1F3E136D6BB3}"/>
              </a:ext>
            </a:extLst>
          </p:cNvPr>
          <p:cNvPicPr>
            <a:picLocks noChangeAspect="1"/>
          </p:cNvPicPr>
          <p:nvPr/>
        </p:nvPicPr>
        <p:blipFill>
          <a:blip r:embed="rId3"/>
          <a:stretch>
            <a:fillRect/>
          </a:stretch>
        </p:blipFill>
        <p:spPr>
          <a:xfrm>
            <a:off x="517585" y="3842919"/>
            <a:ext cx="9368287" cy="3015081"/>
          </a:xfrm>
          <a:prstGeom prst="rect">
            <a:avLst/>
          </a:prstGeom>
        </p:spPr>
      </p:pic>
    </p:spTree>
    <p:extLst>
      <p:ext uri="{BB962C8B-B14F-4D97-AF65-F5344CB8AC3E}">
        <p14:creationId xmlns:p14="http://schemas.microsoft.com/office/powerpoint/2010/main" val="6098868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DF521-30ED-AF3E-DDB2-8DE47983B06D}"/>
              </a:ext>
            </a:extLst>
          </p:cNvPr>
          <p:cNvSpPr>
            <a:spLocks noGrp="1"/>
          </p:cNvSpPr>
          <p:nvPr>
            <p:ph type="title"/>
          </p:nvPr>
        </p:nvSpPr>
        <p:spPr/>
        <p:txBody>
          <a:bodyPr/>
          <a:lstStyle/>
          <a:p>
            <a:r>
              <a:rPr lang="en-US" b="1" dirty="0"/>
              <a:t>Step by Step PS :SORT </a:t>
            </a:r>
            <a:br>
              <a:rPr lang="en-US" dirty="0"/>
            </a:br>
            <a:endParaRPr lang="en-US" dirty="0"/>
          </a:p>
        </p:txBody>
      </p:sp>
      <p:sp>
        <p:nvSpPr>
          <p:cNvPr id="3" name="Content Placeholder 2">
            <a:extLst>
              <a:ext uri="{FF2B5EF4-FFF2-40B4-BE49-F238E27FC236}">
                <a16:creationId xmlns:a16="http://schemas.microsoft.com/office/drawing/2014/main" id="{BC6CCB27-9A5F-91CE-3192-CDD3769FE141}"/>
              </a:ext>
            </a:extLst>
          </p:cNvPr>
          <p:cNvSpPr>
            <a:spLocks noGrp="1"/>
          </p:cNvSpPr>
          <p:nvPr>
            <p:ph idx="1"/>
          </p:nvPr>
        </p:nvSpPr>
        <p:spPr/>
        <p:txBody>
          <a:bodyPr>
            <a:normAutofit fontScale="70000" lnSpcReduction="20000"/>
          </a:bodyPr>
          <a:lstStyle/>
          <a:p>
            <a:r>
              <a:rPr lang="en-US" dirty="0"/>
              <a:t> -When working on a carton first scan the </a:t>
            </a:r>
            <a:r>
              <a:rPr lang="en-US" dirty="0" err="1"/>
              <a:t>csX</a:t>
            </a:r>
            <a:r>
              <a:rPr lang="en-US" dirty="0"/>
              <a:t> in FC research to see if the box has inventory. If it does, verify that the inventory matches what is actually in the box. If it matches make sure the </a:t>
            </a:r>
            <a:r>
              <a:rPr lang="en-US" dirty="0" err="1"/>
              <a:t>asins</a:t>
            </a:r>
            <a:r>
              <a:rPr lang="en-US" dirty="0"/>
              <a:t> are scannable and print more if needed. If not, then scan the FBA to find the PO and verify that the items from the box are in the Purchase order items. Here you will be able to see if the items have already been received, or unfilled or canceled. If unfilled or canceled they will need to be received.</a:t>
            </a:r>
            <a:br>
              <a:rPr lang="en-US" dirty="0"/>
            </a:br>
            <a:r>
              <a:rPr lang="en-US" dirty="0"/>
              <a:t> </a:t>
            </a:r>
          </a:p>
          <a:p>
            <a:r>
              <a:rPr lang="en-US" dirty="0"/>
              <a:t>Damages: When coming across a damaged item in a box or tote, side line the item in to another tote. (If it hasn’t been damaged out in the system you can do this while going through the side line process.)  Only 1 unique </a:t>
            </a:r>
            <a:r>
              <a:rPr lang="en-US" dirty="0" err="1"/>
              <a:t>asin</a:t>
            </a:r>
            <a:r>
              <a:rPr lang="en-US" dirty="0"/>
              <a:t> per tote. Make sure the item has been virtually moved to tote,  that it has been bagged, that an </a:t>
            </a:r>
            <a:r>
              <a:rPr lang="en-US" dirty="0" err="1"/>
              <a:t>asin</a:t>
            </a:r>
            <a:r>
              <a:rPr lang="en-US" dirty="0"/>
              <a:t> has been placed on the outside of the bag, and the item is marked unsellable. ( if the item still says transshipment in fc research use the unbind tool from the ryy2 problem solver page ) Then fill out a damage form and place in tote to take to ISS.</a:t>
            </a:r>
            <a:br>
              <a:rPr lang="en-US" dirty="0"/>
            </a:br>
            <a:endParaRPr lang="en-US" dirty="0"/>
          </a:p>
          <a:p>
            <a:r>
              <a:rPr lang="en-US" dirty="0"/>
              <a:t>If there are overages left in box: If there are no unfilled or canceled of that item you can use the </a:t>
            </a:r>
            <a:r>
              <a:rPr lang="en-US" dirty="0" err="1"/>
              <a:t>csX</a:t>
            </a:r>
            <a:r>
              <a:rPr lang="en-US" dirty="0"/>
              <a:t> of that box to side line. It will say zero but that </a:t>
            </a:r>
            <a:r>
              <a:rPr lang="en-US" dirty="0" err="1"/>
              <a:t>csX</a:t>
            </a:r>
            <a:r>
              <a:rPr lang="en-US" dirty="0"/>
              <a:t> is still tied to that PO. You can only sideline an item that has a PO. If you come across and Item and find there is no PO you will have to fill out an ISS resolver form which can be found on the ryy2 problem solve page. If someone comes up to you for a label first verify that the item matches what is in the box or tote before printing and handing them a label. This will help prevent labels being put on items where they don’t belong.</a:t>
            </a:r>
            <a:br>
              <a:rPr lang="en-US" dirty="0"/>
            </a:br>
            <a:endParaRPr lang="en-US" dirty="0"/>
          </a:p>
        </p:txBody>
      </p:sp>
    </p:spTree>
    <p:extLst>
      <p:ext uri="{BB962C8B-B14F-4D97-AF65-F5344CB8AC3E}">
        <p14:creationId xmlns:p14="http://schemas.microsoft.com/office/powerpoint/2010/main" val="25327778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978DD-F057-AB4E-D9B6-E0A425C6F0E9}"/>
              </a:ext>
            </a:extLst>
          </p:cNvPr>
          <p:cNvSpPr>
            <a:spLocks noGrp="1"/>
          </p:cNvSpPr>
          <p:nvPr>
            <p:ph type="title"/>
          </p:nvPr>
        </p:nvSpPr>
        <p:spPr>
          <a:xfrm rot="10800000" flipV="1">
            <a:off x="6342611" y="3125585"/>
            <a:ext cx="4255329" cy="1289503"/>
          </a:xfrm>
        </p:spPr>
        <p:txBody>
          <a:bodyPr>
            <a:normAutofit fontScale="90000"/>
          </a:bodyPr>
          <a:lstStyle/>
          <a:p>
            <a:r>
              <a:rPr lang="en-US" i="1" dirty="0"/>
              <a:t>Should bring pallets each period ! </a:t>
            </a:r>
          </a:p>
        </p:txBody>
      </p:sp>
      <p:pic>
        <p:nvPicPr>
          <p:cNvPr id="5" name="Content Placeholder 4">
            <a:extLst>
              <a:ext uri="{FF2B5EF4-FFF2-40B4-BE49-F238E27FC236}">
                <a16:creationId xmlns:a16="http://schemas.microsoft.com/office/drawing/2014/main" id="{4E1D48B0-5CFF-9A69-6325-96E70FCA4992}"/>
              </a:ext>
            </a:extLst>
          </p:cNvPr>
          <p:cNvPicPr>
            <a:picLocks noGrp="1" noChangeAspect="1"/>
          </p:cNvPicPr>
          <p:nvPr>
            <p:ph idx="1"/>
          </p:nvPr>
        </p:nvPicPr>
        <p:blipFill>
          <a:blip r:embed="rId2"/>
          <a:stretch>
            <a:fillRect/>
          </a:stretch>
        </p:blipFill>
        <p:spPr>
          <a:xfrm>
            <a:off x="341278" y="2217190"/>
            <a:ext cx="5203311" cy="3955011"/>
          </a:xfrm>
        </p:spPr>
      </p:pic>
      <p:sp>
        <p:nvSpPr>
          <p:cNvPr id="7" name="Rectangle 4">
            <a:extLst>
              <a:ext uri="{FF2B5EF4-FFF2-40B4-BE49-F238E27FC236}">
                <a16:creationId xmlns:a16="http://schemas.microsoft.com/office/drawing/2014/main" id="{C6E3C73D-4596-FB2C-2530-8ABCC7AC4AFA}"/>
              </a:ext>
            </a:extLst>
          </p:cNvPr>
          <p:cNvSpPr>
            <a:spLocks noChangeArrowheads="1"/>
          </p:cNvSpPr>
          <p:nvPr/>
        </p:nvSpPr>
        <p:spPr bwMode="auto">
          <a:xfrm>
            <a:off x="1221971" y="-69741"/>
            <a:ext cx="8828058"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accent1">
                    <a:lumMod val="75000"/>
                  </a:schemeClr>
                </a:solidFill>
                <a:effectLst/>
                <a:latin typeface="+mj-lt"/>
              </a:rPr>
              <a:t>  </a:t>
            </a:r>
            <a:r>
              <a:rPr kumimoji="0" lang="en-US" altLang="en-US" sz="7600" b="1" i="0" u="none" strike="noStrike" cap="none" normalizeH="0" baseline="0" dirty="0">
                <a:ln>
                  <a:noFill/>
                </a:ln>
                <a:solidFill>
                  <a:schemeClr val="accent1">
                    <a:lumMod val="75000"/>
                  </a:schemeClr>
                </a:solidFill>
                <a:effectLst/>
                <a:latin typeface="+mj-lt"/>
              </a:rPr>
              <a:t>     </a:t>
            </a:r>
            <a:r>
              <a:rPr kumimoji="0" lang="en-US" altLang="en-US" sz="1800" b="1" i="0" u="none" strike="noStrike" cap="none" normalizeH="0" baseline="0" dirty="0">
                <a:ln>
                  <a:noFill/>
                </a:ln>
                <a:solidFill>
                  <a:schemeClr val="accent1">
                    <a:lumMod val="75000"/>
                  </a:schemeClr>
                </a:solidFill>
                <a:effectLst/>
                <a:latin typeface="+mj-lt"/>
              </a:rPr>
              <a:t>  ISS Drop-Zone Closure Notice   </a:t>
            </a:r>
            <a:r>
              <a:rPr kumimoji="0" lang="en-US" altLang="en-US" sz="7600" b="1" i="0" u="none" strike="noStrike" cap="none" normalizeH="0" baseline="0" dirty="0">
                <a:ln>
                  <a:noFill/>
                </a:ln>
                <a:solidFill>
                  <a:schemeClr val="accent1">
                    <a:lumMod val="75000"/>
                  </a:schemeClr>
                </a:solidFill>
                <a:effectLst/>
                <a:latin typeface="+mj-lt"/>
              </a:rPr>
              <a:t>     </a:t>
            </a:r>
            <a:r>
              <a:rPr kumimoji="0" lang="en-US" altLang="en-US" sz="1800" b="1" i="0" u="none" strike="noStrike" cap="none" normalizeH="0" baseline="0" dirty="0">
                <a:ln>
                  <a:noFill/>
                </a:ln>
                <a:solidFill>
                  <a:schemeClr val="accent1">
                    <a:lumMod val="75000"/>
                  </a:schemeClr>
                </a:solidFill>
                <a:effectLst/>
                <a:latin typeface="+mj-lt"/>
              </a:rPr>
              <a:t> </a:t>
            </a:r>
            <a:br>
              <a:rPr kumimoji="0" lang="en-US" altLang="en-US" sz="1800" b="1" i="0" u="none" strike="noStrike" cap="none" normalizeH="0" baseline="0" dirty="0">
                <a:ln>
                  <a:noFill/>
                </a:ln>
                <a:solidFill>
                  <a:schemeClr val="accent1">
                    <a:lumMod val="75000"/>
                  </a:schemeClr>
                </a:solidFill>
                <a:effectLst/>
                <a:latin typeface="+mj-lt"/>
              </a:rPr>
            </a:br>
            <a:br>
              <a:rPr kumimoji="0" lang="en-US" altLang="en-US" sz="1800" b="1" i="0" u="none" strike="noStrike" cap="none" normalizeH="0" baseline="0" dirty="0">
                <a:ln>
                  <a:noFill/>
                </a:ln>
                <a:solidFill>
                  <a:schemeClr val="accent1">
                    <a:lumMod val="75000"/>
                  </a:schemeClr>
                </a:solidFill>
                <a:effectLst/>
                <a:latin typeface="+mj-lt"/>
              </a:rPr>
            </a:br>
            <a:r>
              <a:rPr kumimoji="0" lang="en-US" altLang="en-US" sz="1800" b="1" i="0" u="none" strike="noStrike" cap="none" normalizeH="0" baseline="0" dirty="0">
                <a:ln>
                  <a:noFill/>
                </a:ln>
                <a:solidFill>
                  <a:schemeClr val="accent1">
                    <a:lumMod val="75000"/>
                  </a:schemeClr>
                </a:solidFill>
                <a:effectLst/>
                <a:latin typeface="+mj-lt"/>
              </a:rPr>
              <a:t>Reminder: Please remember anything for ISS has to be dropped off by 3:30PM </a:t>
            </a:r>
          </a:p>
        </p:txBody>
      </p:sp>
      <p:pic>
        <p:nvPicPr>
          <p:cNvPr id="1029" name="Picture 5" descr=":blue-light:">
            <a:extLst>
              <a:ext uri="{FF2B5EF4-FFF2-40B4-BE49-F238E27FC236}">
                <a16:creationId xmlns:a16="http://schemas.microsoft.com/office/drawing/2014/main" id="{FC0E782B-9AD6-F3EA-71F5-1D61B48C7D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427" y="92075"/>
            <a:ext cx="1219200" cy="12192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blue-light:">
            <a:extLst>
              <a:ext uri="{FF2B5EF4-FFF2-40B4-BE49-F238E27FC236}">
                <a16:creationId xmlns:a16="http://schemas.microsoft.com/office/drawing/2014/main" id="{E4627CCF-BDA3-C08B-7ACE-EC732756B6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99918" y="0"/>
            <a:ext cx="1219200" cy="1219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306709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F496CB"/>
      </a:accent1>
      <a:accent2>
        <a:srgbClr val="BC356F"/>
      </a:accent2>
      <a:accent3>
        <a:srgbClr val="E65331"/>
      </a:accent3>
      <a:accent4>
        <a:srgbClr val="F27E19"/>
      </a:accent4>
      <a:accent5>
        <a:srgbClr val="F2AC19"/>
      </a:accent5>
      <a:accent6>
        <a:srgbClr val="BC80E0"/>
      </a:accent6>
      <a:hlink>
        <a:srgbClr val="EF5285"/>
      </a:hlink>
      <a:folHlink>
        <a:srgbClr val="F77F9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23659B44-6E34-4CE8-8F0D-387DA7996826}"/>
    </a:ext>
  </a:extLst>
</a:theme>
</file>

<file path=docProps/app.xml><?xml version="1.0" encoding="utf-8"?>
<Properties xmlns="http://schemas.openxmlformats.org/officeDocument/2006/extended-properties" xmlns:vt="http://schemas.openxmlformats.org/officeDocument/2006/docPropsVTypes">
  <Template>Facet</Template>
  <TotalTime>5978</TotalTime>
  <Words>1307</Words>
  <Application>Microsoft Office PowerPoint</Application>
  <PresentationFormat>Widescreen</PresentationFormat>
  <Paragraphs>55</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Amazon Ember Heavy</vt:lpstr>
      <vt:lpstr>Arial</vt:lpstr>
      <vt:lpstr>Trebuchet MS</vt:lpstr>
      <vt:lpstr>Wingdings 3</vt:lpstr>
      <vt:lpstr>Facet</vt:lpstr>
      <vt:lpstr>Problem Solve Tips </vt:lpstr>
      <vt:lpstr>Sideline App </vt:lpstr>
      <vt:lpstr>Tickets </vt:lpstr>
      <vt:lpstr>CODE 5 </vt:lpstr>
      <vt:lpstr>PANDASH * /Hazmat </vt:lpstr>
      <vt:lpstr>Source Container Overview </vt:lpstr>
      <vt:lpstr> Step By Step PS OUTBOUND</vt:lpstr>
      <vt:lpstr>Step By Step Inbound PS</vt:lpstr>
      <vt:lpstr>Step By Step RPN</vt:lpstr>
      <vt:lpstr>Step by Step PS :SORT  </vt:lpstr>
      <vt:lpstr>Should bring pallets each period ! </vt:lpstr>
    </vt:vector>
  </TitlesOfParts>
  <Company>Amazon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Wiggins, Aliesha</dc:creator>
  <cp:lastModifiedBy>Wiggins, Aliesha</cp:lastModifiedBy>
  <cp:revision>4</cp:revision>
  <dcterms:created xsi:type="dcterms:W3CDTF">2026-10-21T13:53:43Z</dcterms:created>
  <dcterms:modified xsi:type="dcterms:W3CDTF">2026-10-25T17:32:25Z</dcterms:modified>
</cp:coreProperties>
</file>